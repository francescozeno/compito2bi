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Zeno" userId="972aea886ab22cdb" providerId="LiveId" clId="{7778EA5A-B0FE-4CF9-B018-0CA6C1D0CCE5}"/>
    <pc:docChg chg="undo custSel modSld">
      <pc:chgData name="Francesco Zeno" userId="972aea886ab22cdb" providerId="LiveId" clId="{7778EA5A-B0FE-4CF9-B018-0CA6C1D0CCE5}" dt="2022-05-25T17:19:34.062" v="5" actId="20577"/>
      <pc:docMkLst>
        <pc:docMk/>
      </pc:docMkLst>
      <pc:sldChg chg="modSp mod">
        <pc:chgData name="Francesco Zeno" userId="972aea886ab22cdb" providerId="LiveId" clId="{7778EA5A-B0FE-4CF9-B018-0CA6C1D0CCE5}" dt="2022-05-25T16:31:25.062" v="1" actId="1076"/>
        <pc:sldMkLst>
          <pc:docMk/>
          <pc:sldMk cId="3510704552" sldId="258"/>
        </pc:sldMkLst>
        <pc:picChg chg="mod">
          <ac:chgData name="Francesco Zeno" userId="972aea886ab22cdb" providerId="LiveId" clId="{7778EA5A-B0FE-4CF9-B018-0CA6C1D0CCE5}" dt="2022-05-25T16:31:25.062" v="1" actId="1076"/>
          <ac:picMkLst>
            <pc:docMk/>
            <pc:sldMk cId="3510704552" sldId="258"/>
            <ac:picMk id="5" creationId="{4C0F07AE-9A41-428F-A7FF-58BE436DB6A3}"/>
          </ac:picMkLst>
        </pc:picChg>
      </pc:sldChg>
      <pc:sldChg chg="modSp mod">
        <pc:chgData name="Francesco Zeno" userId="972aea886ab22cdb" providerId="LiveId" clId="{7778EA5A-B0FE-4CF9-B018-0CA6C1D0CCE5}" dt="2022-05-25T17:19:34.062" v="5" actId="20577"/>
        <pc:sldMkLst>
          <pc:docMk/>
          <pc:sldMk cId="2325303466" sldId="262"/>
        </pc:sldMkLst>
        <pc:spChg chg="mod">
          <ac:chgData name="Francesco Zeno" userId="972aea886ab22cdb" providerId="LiveId" clId="{7778EA5A-B0FE-4CF9-B018-0CA6C1D0CCE5}" dt="2022-05-25T17:19:34.062" v="5" actId="20577"/>
          <ac:spMkLst>
            <pc:docMk/>
            <pc:sldMk cId="2325303466" sldId="262"/>
            <ac:spMk id="6" creationId="{00000000-0000-0000-0000-000000000000}"/>
          </ac:spMkLst>
        </pc:spChg>
      </pc:sldChg>
      <pc:sldChg chg="modSp mod">
        <pc:chgData name="Francesco Zeno" userId="972aea886ab22cdb" providerId="LiveId" clId="{7778EA5A-B0FE-4CF9-B018-0CA6C1D0CCE5}" dt="2022-05-25T17:19:15.512" v="3" actId="20577"/>
        <pc:sldMkLst>
          <pc:docMk/>
          <pc:sldMk cId="2914124890" sldId="263"/>
        </pc:sldMkLst>
        <pc:spChg chg="mod">
          <ac:chgData name="Francesco Zeno" userId="972aea886ab22cdb" providerId="LiveId" clId="{7778EA5A-B0FE-4CF9-B018-0CA6C1D0CCE5}" dt="2022-05-25T17:19:15.512" v="3" actId="20577"/>
          <ac:spMkLst>
            <pc:docMk/>
            <pc:sldMk cId="2914124890" sldId="263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5/25/2022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6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6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4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3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0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2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1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5/25/2022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9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155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543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0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5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4" descr="Immagine che contiene interni, arredamento, ingombro&#10;&#10;Descrizione generata automaticamente">
            <a:extLst>
              <a:ext uri="{FF2B5EF4-FFF2-40B4-BE49-F238E27FC236}">
                <a16:creationId xmlns:a16="http://schemas.microsoft.com/office/drawing/2014/main" id="{3379C13C-9823-4469-9221-06D826E152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9287" b="6443"/>
          <a:stretch/>
        </p:blipFill>
        <p:spPr>
          <a:xfrm>
            <a:off x="1" y="10"/>
            <a:ext cx="12191999" cy="685798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  <p:sp>
        <p:nvSpPr>
          <p:cNvPr id="6" name="CasellaDiTesto 5"/>
          <p:cNvSpPr txBox="1"/>
          <p:nvPr/>
        </p:nvSpPr>
        <p:spPr>
          <a:xfrm>
            <a:off x="3413760" y="1584960"/>
            <a:ext cx="53492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6000" dirty="0"/>
              <a:t>La Produzione della carta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521" y="4163674"/>
            <a:ext cx="1965959" cy="122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258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Economia circolare: il ruolo strategico della filiera del riciclo della  car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0" y="789623"/>
            <a:ext cx="7803833" cy="5300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828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44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7" name="Rectangle 46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69" name="Rectangle 48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71" name="Rectangle 50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3" name="Group 52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Rectangle 57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59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" name="Rectangle 61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6CB9B0-C15A-427F-8531-BE1F4FF2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907" y="1178769"/>
            <a:ext cx="2978281" cy="15742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600" cap="all" spc="-100">
                <a:solidFill>
                  <a:schemeClr val="bg1"/>
                </a:solidFill>
              </a:rPr>
              <a:t>Il RICICLO </a:t>
            </a:r>
            <a:r>
              <a:rPr lang="en-US" sz="2600" cap="all" spc="-100" dirty="0">
                <a:solidFill>
                  <a:schemeClr val="bg1"/>
                </a:solidFill>
              </a:rPr>
              <a:t>della</a:t>
            </a:r>
            <a:r>
              <a:rPr lang="en-US" sz="2600" cap="all" spc="-100">
                <a:solidFill>
                  <a:schemeClr val="bg1"/>
                </a:solidFill>
              </a:rPr>
              <a:t> Carta: </a:t>
            </a:r>
            <a:br>
              <a:rPr lang="en-US" sz="2600" cap="all" spc="-100" dirty="0"/>
            </a:br>
            <a:endParaRPr lang="en-US" sz="2600" cap="all" spc="-100">
              <a:solidFill>
                <a:schemeClr val="bg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magine 18">
            <a:extLst>
              <a:ext uri="{FF2B5EF4-FFF2-40B4-BE49-F238E27FC236}">
                <a16:creationId xmlns:a16="http://schemas.microsoft.com/office/drawing/2014/main" id="{A1BB9C58-E58D-46CA-B655-D791F8A96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46570" y="1838114"/>
            <a:ext cx="6202238" cy="3178646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63770BF-E679-466B-B70D-C9D172815A30}"/>
              </a:ext>
            </a:extLst>
          </p:cNvPr>
          <p:cNvSpPr txBox="1"/>
          <p:nvPr/>
        </p:nvSpPr>
        <p:spPr>
          <a:xfrm>
            <a:off x="849352" y="2123563"/>
            <a:ext cx="37839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sz="2400" dirty="0">
                <a:solidFill>
                  <a:schemeClr val="bg1"/>
                </a:solidFill>
              </a:rPr>
              <a:t>Il</a:t>
            </a:r>
            <a:r>
              <a:rPr lang="it-IT" sz="2400" dirty="0">
                <a:solidFill>
                  <a:schemeClr val="bg1"/>
                </a:solidFill>
                <a:ea typeface="+mn-lt"/>
                <a:cs typeface="+mn-lt"/>
              </a:rPr>
              <a:t> riciclo della carta è importante per diversi motivi che possono essere sintetizzati in due concetti fondamentali:</a:t>
            </a:r>
            <a:endParaRPr lang="it-IT" sz="2400" dirty="0">
              <a:solidFill>
                <a:schemeClr val="bg1"/>
              </a:solidFill>
            </a:endParaRPr>
          </a:p>
          <a:p>
            <a:pPr algn="just"/>
            <a:r>
              <a:rPr lang="it-IT" sz="2400" dirty="0">
                <a:solidFill>
                  <a:schemeClr val="bg1"/>
                </a:solidFill>
                <a:ea typeface="+mn-lt"/>
                <a:cs typeface="+mn-lt"/>
              </a:rPr>
              <a:t>-più carta riusciamo a riciclare, meno alberi saranno abbattuti</a:t>
            </a:r>
            <a:endParaRPr lang="it-IT" sz="2400" dirty="0">
              <a:solidFill>
                <a:schemeClr val="bg1"/>
              </a:solidFill>
            </a:endParaRPr>
          </a:p>
          <a:p>
            <a:pPr algn="just"/>
            <a:r>
              <a:rPr lang="it-IT" sz="2400" dirty="0">
                <a:solidFill>
                  <a:schemeClr val="bg1"/>
                </a:solidFill>
                <a:ea typeface="+mn-lt"/>
                <a:cs typeface="+mn-lt"/>
              </a:rPr>
              <a:t>-con il riciclo della carta si consumano meno risorse sia in termini economici, sia in termini energetici.</a:t>
            </a:r>
            <a:endParaRPr lang="it-IT" sz="2400" dirty="0">
              <a:solidFill>
                <a:schemeClr val="bg1"/>
              </a:solidFill>
            </a:endParaRPr>
          </a:p>
          <a:p>
            <a:pPr algn="just"/>
            <a:endParaRPr lang="it-IT" sz="2400" dirty="0">
              <a:solidFill>
                <a:schemeClr val="bg1"/>
              </a:solidFill>
            </a:endParaRPr>
          </a:p>
          <a:p>
            <a:pPr algn="just"/>
            <a:endParaRPr lang="it-IT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005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B949D8D-8E17-4DBF-BEA8-13C57BF63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5" descr="Immagine che contiene interni, lenzuola&#10;&#10;Descrizione generata automaticamente">
            <a:extLst>
              <a:ext uri="{FF2B5EF4-FFF2-40B4-BE49-F238E27FC236}">
                <a16:creationId xmlns:a16="http://schemas.microsoft.com/office/drawing/2014/main" id="{4C0F07AE-9A41-428F-A7FF-58BE436DB6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540" r="1" b="1"/>
          <a:stretch/>
        </p:blipFill>
        <p:spPr>
          <a:xfrm>
            <a:off x="98296" y="235127"/>
            <a:ext cx="4093413" cy="637035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BC6FC45-D4D9-4025-91DA-272D318D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54630" y="237744"/>
            <a:ext cx="7652977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284212-C175-4C82-B112-A5208F70C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9222" y="393365"/>
            <a:ext cx="7328969" cy="6059273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251175F-3FEF-48AB-9FF1-437FAB43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680" y="642593"/>
            <a:ext cx="7040880" cy="1744183"/>
          </a:xfrm>
        </p:spPr>
        <p:txBody>
          <a:bodyPr>
            <a:normAutofit/>
          </a:bodyPr>
          <a:lstStyle/>
          <a:p>
            <a:r>
              <a:rPr lang="it-IT" b="1" dirty="0"/>
              <a:t>Fase 1: Taglio e macerazione in acqua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505569-87EC-485C-9A2C-E8E0ED405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0" y="2356104"/>
            <a:ext cx="7056120" cy="3648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it-IT" sz="3700" dirty="0"/>
              <a:t>Nella prima fase della produzione della carta riciclata è necessario ridurre in piccole dimensioni i fogli di carta e  metterli in macerazione in acqua.</a:t>
            </a:r>
          </a:p>
        </p:txBody>
      </p:sp>
    </p:spTree>
    <p:extLst>
      <p:ext uri="{BB962C8B-B14F-4D97-AF65-F5344CB8AC3E}">
        <p14:creationId xmlns:p14="http://schemas.microsoft.com/office/powerpoint/2010/main" val="3510704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6A413F7-FFE1-42E7-8C6C-E9CCC477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E0B0FD-3413-40CC-A7D8-6A5058608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0C4C044-5B1C-40C8-8C7B-AA5E6D879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163F5F-1439-4827-8F7A-B08BDDEFB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A677414-C3D2-4430-876D-9092D633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9181D20-1D81-447D-9854-10DDB10D5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A6020133-135E-4D08-9F4A-D76B87578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4" descr="Immagine che contiene piatto, interni&#10;&#10;Descrizione generata automaticamente">
            <a:extLst>
              <a:ext uri="{FF2B5EF4-FFF2-40B4-BE49-F238E27FC236}">
                <a16:creationId xmlns:a16="http://schemas.microsoft.com/office/drawing/2014/main" id="{D8F516F0-C680-4B1A-B4DA-193AAF1921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7" r="1" b="26208"/>
          <a:stretch/>
        </p:blipFill>
        <p:spPr>
          <a:xfrm>
            <a:off x="477014" y="643467"/>
            <a:ext cx="4618070" cy="3447288"/>
          </a:xfrm>
          <a:prstGeom prst="rect">
            <a:avLst/>
          </a:prstGeom>
        </p:spPr>
      </p:pic>
      <p:pic>
        <p:nvPicPr>
          <p:cNvPr id="6" name="Immagine 6" descr="Immagine che contiene interni, persona&#10;&#10;Descrizione generata automaticamente">
            <a:extLst>
              <a:ext uri="{FF2B5EF4-FFF2-40B4-BE49-F238E27FC236}">
                <a16:creationId xmlns:a16="http://schemas.microsoft.com/office/drawing/2014/main" id="{5060CA4D-D02F-4698-AFCE-D5128A51BF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654" b="19038"/>
          <a:stretch/>
        </p:blipFill>
        <p:spPr>
          <a:xfrm>
            <a:off x="7168044" y="644075"/>
            <a:ext cx="4438598" cy="3442481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E7CA313-2F4B-4574-8399-12EF6A1BF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6119"/>
            <a:ext cx="12192000" cy="225188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30074"/>
            <a:ext cx="12192000" cy="2327925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116" y="4692768"/>
            <a:ext cx="11859768" cy="2002536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C36E18-F1BE-4D80-9784-6DD5CA678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25" y="5445372"/>
            <a:ext cx="11602035" cy="14126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700" spc="80" dirty="0"/>
              <a:t>Dopo la </a:t>
            </a:r>
            <a:r>
              <a:rPr lang="en-US" sz="3700" spc="80" dirty="0" err="1"/>
              <a:t>macerazione</a:t>
            </a:r>
            <a:r>
              <a:rPr lang="en-US" sz="3700" spc="80" dirty="0"/>
              <a:t> </a:t>
            </a:r>
            <a:r>
              <a:rPr lang="en-US" sz="3700" spc="80" dirty="0" err="1"/>
              <a:t>si</a:t>
            </a:r>
            <a:r>
              <a:rPr lang="en-US" sz="3700" spc="80" dirty="0"/>
              <a:t> </a:t>
            </a:r>
            <a:r>
              <a:rPr lang="en-US" sz="3700" spc="80" dirty="0" err="1"/>
              <a:t>procede</a:t>
            </a:r>
            <a:r>
              <a:rPr lang="en-US" sz="3700" spc="80" dirty="0"/>
              <a:t> </a:t>
            </a:r>
            <a:r>
              <a:rPr lang="en-US" sz="3700" spc="80" dirty="0" err="1"/>
              <a:t>alla</a:t>
            </a:r>
            <a:r>
              <a:rPr lang="en-US" sz="3700" spc="80" dirty="0"/>
              <a:t> </a:t>
            </a:r>
            <a:r>
              <a:rPr lang="en-US" sz="3700" spc="80" dirty="0" err="1"/>
              <a:t>fase</a:t>
            </a:r>
            <a:r>
              <a:rPr lang="en-US" sz="3700" spc="80" dirty="0"/>
              <a:t> di </a:t>
            </a:r>
            <a:r>
              <a:rPr lang="en-US" sz="3700" spc="80" dirty="0" err="1"/>
              <a:t>triturazione</a:t>
            </a:r>
            <a:r>
              <a:rPr lang="en-US" sz="3700" spc="80" dirty="0"/>
              <a:t> </a:t>
            </a:r>
            <a:r>
              <a:rPr lang="en-US" sz="3700" spc="80" dirty="0" err="1"/>
              <a:t>utilizzando</a:t>
            </a:r>
            <a:r>
              <a:rPr lang="en-US" sz="3700" spc="80" dirty="0"/>
              <a:t> un mixer, in </a:t>
            </a:r>
            <a:r>
              <a:rPr lang="en-US" sz="3700" spc="80" dirty="0" err="1"/>
              <a:t>modo</a:t>
            </a:r>
            <a:r>
              <a:rPr lang="en-US" sz="3700" spc="80" dirty="0"/>
              <a:t> da </a:t>
            </a:r>
            <a:r>
              <a:rPr lang="en-US" sz="3700" spc="80" dirty="0" err="1"/>
              <a:t>ottenere</a:t>
            </a:r>
            <a:r>
              <a:rPr lang="en-US" sz="3700" spc="80" dirty="0"/>
              <a:t> </a:t>
            </a:r>
            <a:r>
              <a:rPr lang="en-US" sz="3700" spc="80" dirty="0" err="1"/>
              <a:t>una</a:t>
            </a:r>
            <a:r>
              <a:rPr lang="en-US" sz="3700" spc="80" dirty="0"/>
              <a:t> pasta.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5EECEE2-745A-4C3E-9A46-1B2ACCDC0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93533"/>
            <a:ext cx="0" cy="174715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69925" y="4738488"/>
            <a:ext cx="8412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/>
              <a:t>Fase 2: Triturazione</a:t>
            </a:r>
          </a:p>
        </p:txBody>
      </p:sp>
    </p:spTree>
    <p:extLst>
      <p:ext uri="{BB962C8B-B14F-4D97-AF65-F5344CB8AC3E}">
        <p14:creationId xmlns:p14="http://schemas.microsoft.com/office/powerpoint/2010/main" val="3177383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6C4D022-E2BC-435F-9CDB-44DC57C07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926CAD6-45B1-4A85-A196-E722067B1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3480" y="0"/>
            <a:ext cx="652547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E0936D5-2DCE-48A4-93BC-BA7861B4E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81848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009CC88-D043-46B8-9D31-2D624523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848" y="642594"/>
            <a:ext cx="5768192" cy="1371600"/>
          </a:xfrm>
        </p:spPr>
        <p:txBody>
          <a:bodyPr>
            <a:no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Fase 3: Pressatura del foglio </a:t>
            </a:r>
          </a:p>
        </p:txBody>
      </p:sp>
      <p:pic>
        <p:nvPicPr>
          <p:cNvPr id="4" name="Immagine 4" descr="Immagine che contiene interni&#10;&#10;Descrizione generata automaticamente">
            <a:extLst>
              <a:ext uri="{FF2B5EF4-FFF2-40B4-BE49-F238E27FC236}">
                <a16:creationId xmlns:a16="http://schemas.microsoft.com/office/drawing/2014/main" id="{A6B7ED74-6C86-41C1-B00D-7D22FB6A22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00" r="-2" b="25951"/>
          <a:stretch/>
        </p:blipFill>
        <p:spPr>
          <a:xfrm>
            <a:off x="389339" y="318223"/>
            <a:ext cx="5185213" cy="3358789"/>
          </a:xfrm>
          <a:prstGeom prst="rect">
            <a:avLst/>
          </a:prstGeom>
        </p:spPr>
      </p:pic>
      <p:pic>
        <p:nvPicPr>
          <p:cNvPr id="5" name="Immagine 5" descr="Immagine che contiene persona, cibo, piatto, interni&#10;&#10;Descrizione generata automaticamente">
            <a:extLst>
              <a:ext uri="{FF2B5EF4-FFF2-40B4-BE49-F238E27FC236}">
                <a16:creationId xmlns:a16="http://schemas.microsoft.com/office/drawing/2014/main" id="{0AAD51E9-F4A2-4498-A5DB-1892CB2624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" b="36997"/>
          <a:stretch/>
        </p:blipFill>
        <p:spPr>
          <a:xfrm>
            <a:off x="392365" y="3868644"/>
            <a:ext cx="5187337" cy="2699009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85BDE9-07DE-4EEB-93B2-743658FE5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76" y="2103120"/>
            <a:ext cx="5640324" cy="3368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it-IT" sz="3700" dirty="0">
                <a:solidFill>
                  <a:schemeClr val="bg1"/>
                </a:solidFill>
              </a:rPr>
              <a:t>La pasta viene adagiata su di un setaccio, successivamente pressata per eliminare l'acqua in eccesso.</a:t>
            </a:r>
          </a:p>
        </p:txBody>
      </p:sp>
    </p:spTree>
    <p:extLst>
      <p:ext uri="{BB962C8B-B14F-4D97-AF65-F5344CB8AC3E}">
        <p14:creationId xmlns:p14="http://schemas.microsoft.com/office/powerpoint/2010/main" val="324379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63B06BE-EA23-41F8-95FA-C2121903A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D58E42-9528-4E37-BD4B-D2153C0E3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063A06-50C0-40FF-A877-94FB4131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80" y="2946217"/>
            <a:ext cx="6149339" cy="250016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700" spc="80" dirty="0">
                <a:solidFill>
                  <a:schemeClr val="bg1"/>
                </a:solidFill>
              </a:rPr>
              <a:t>Il </a:t>
            </a:r>
            <a:r>
              <a:rPr lang="en-US" sz="3700" spc="80" dirty="0" err="1">
                <a:solidFill>
                  <a:schemeClr val="bg1"/>
                </a:solidFill>
              </a:rPr>
              <a:t>foglio</a:t>
            </a:r>
            <a:r>
              <a:rPr lang="en-US" sz="3700" spc="80" dirty="0">
                <a:solidFill>
                  <a:schemeClr val="bg1"/>
                </a:solidFill>
              </a:rPr>
              <a:t>   </a:t>
            </a:r>
            <a:r>
              <a:rPr lang="en-US" sz="3700" spc="80" dirty="0" err="1">
                <a:solidFill>
                  <a:schemeClr val="bg1"/>
                </a:solidFill>
              </a:rPr>
              <a:t>viene</a:t>
            </a:r>
            <a:r>
              <a:rPr lang="en-US" sz="3700" spc="80" dirty="0">
                <a:solidFill>
                  <a:schemeClr val="bg1"/>
                </a:solidFill>
              </a:rPr>
              <a:t> </a:t>
            </a:r>
            <a:r>
              <a:rPr lang="en-US" sz="3700" spc="80" dirty="0" err="1">
                <a:solidFill>
                  <a:schemeClr val="bg1"/>
                </a:solidFill>
              </a:rPr>
              <a:t>lasciato</a:t>
            </a:r>
            <a:r>
              <a:rPr lang="en-US" sz="3700" spc="80" dirty="0">
                <a:solidFill>
                  <a:schemeClr val="bg1"/>
                </a:solidFill>
              </a:rPr>
              <a:t> </a:t>
            </a:r>
            <a:r>
              <a:rPr lang="en-US" sz="3700" spc="80" dirty="0" err="1">
                <a:solidFill>
                  <a:schemeClr val="bg1"/>
                </a:solidFill>
              </a:rPr>
              <a:t>all'aria</a:t>
            </a:r>
            <a:r>
              <a:rPr lang="en-US" sz="3700" spc="80" dirty="0">
                <a:solidFill>
                  <a:schemeClr val="bg1"/>
                </a:solidFill>
              </a:rPr>
              <a:t> per </a:t>
            </a:r>
            <a:r>
              <a:rPr lang="en-US" sz="3700" spc="80" dirty="0" err="1">
                <a:solidFill>
                  <a:schemeClr val="bg1"/>
                </a:solidFill>
              </a:rPr>
              <a:t>permettere</a:t>
            </a:r>
            <a:r>
              <a:rPr lang="en-US" sz="3700" spc="80" dirty="0">
                <a:solidFill>
                  <a:schemeClr val="bg1"/>
                </a:solidFill>
              </a:rPr>
              <a:t> </a:t>
            </a:r>
            <a:r>
              <a:rPr lang="en-US" sz="3700" spc="80" dirty="0" err="1">
                <a:solidFill>
                  <a:schemeClr val="bg1"/>
                </a:solidFill>
              </a:rPr>
              <a:t>l’essicazione</a:t>
            </a:r>
            <a:r>
              <a:rPr lang="en-US" sz="3700" spc="8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22B118A4-B9F8-442A-A09C-DEFE29A39F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905" r="-1" b="20517"/>
          <a:stretch/>
        </p:blipFill>
        <p:spPr>
          <a:xfrm>
            <a:off x="616737" y="621793"/>
            <a:ext cx="4376501" cy="561441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4ABD1344-3ECB-4121-9DA5-5803B789F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0777ED6-C75F-413D-B1A7-A87484859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38CB9E-8778-46C8-9564-691BCFA6C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FAAFDA8-0685-4629-AEF8-A47DD6E97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/>
          <p:cNvSpPr txBox="1"/>
          <p:nvPr/>
        </p:nvSpPr>
        <p:spPr>
          <a:xfrm>
            <a:off x="5654040" y="1633490"/>
            <a:ext cx="5230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>
                <a:solidFill>
                  <a:schemeClr val="bg1"/>
                </a:solidFill>
              </a:rPr>
              <a:t>Fase 4: Essicazione</a:t>
            </a:r>
          </a:p>
        </p:txBody>
      </p:sp>
    </p:spTree>
    <p:extLst>
      <p:ext uri="{BB962C8B-B14F-4D97-AF65-F5344CB8AC3E}">
        <p14:creationId xmlns:p14="http://schemas.microsoft.com/office/powerpoint/2010/main" val="2685041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CD82B7-174D-4681-A5E5-841D63080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977" y="2580162"/>
            <a:ext cx="2868495" cy="23728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700" spc="80" dirty="0">
                <a:solidFill>
                  <a:schemeClr val="bg1"/>
                </a:solidFill>
              </a:rPr>
              <a:t>Il </a:t>
            </a:r>
            <a:r>
              <a:rPr lang="en-US" sz="3700" spc="80" dirty="0" err="1">
                <a:solidFill>
                  <a:schemeClr val="bg1"/>
                </a:solidFill>
              </a:rPr>
              <a:t>foglio</a:t>
            </a:r>
            <a:r>
              <a:rPr lang="en-US" sz="3700" spc="80" dirty="0">
                <a:solidFill>
                  <a:schemeClr val="bg1"/>
                </a:solidFill>
              </a:rPr>
              <a:t> </a:t>
            </a:r>
            <a:r>
              <a:rPr lang="en-US" sz="3700" spc="80" dirty="0" err="1">
                <a:solidFill>
                  <a:schemeClr val="bg1"/>
                </a:solidFill>
              </a:rPr>
              <a:t>viene</a:t>
            </a:r>
            <a:r>
              <a:rPr lang="en-US" sz="3700" spc="80" dirty="0">
                <a:solidFill>
                  <a:schemeClr val="bg1"/>
                </a:solidFill>
              </a:rPr>
              <a:t> </a:t>
            </a:r>
            <a:r>
              <a:rPr lang="en-US" sz="3700" spc="80" dirty="0" err="1">
                <a:solidFill>
                  <a:schemeClr val="bg1"/>
                </a:solidFill>
              </a:rPr>
              <a:t>tagliato</a:t>
            </a:r>
            <a:r>
              <a:rPr lang="en-US" sz="3700" spc="80" dirty="0">
                <a:solidFill>
                  <a:schemeClr val="bg1"/>
                </a:solidFill>
              </a:rPr>
              <a:t> </a:t>
            </a:r>
            <a:r>
              <a:rPr lang="en-US" sz="3700" spc="80" dirty="0" err="1">
                <a:solidFill>
                  <a:schemeClr val="bg1"/>
                </a:solidFill>
              </a:rPr>
              <a:t>nella</a:t>
            </a:r>
            <a:r>
              <a:rPr lang="en-US" sz="3700" spc="80" dirty="0">
                <a:solidFill>
                  <a:schemeClr val="bg1"/>
                </a:solidFill>
              </a:rPr>
              <a:t> grandezza desiderata.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D03BC002-AA14-4780-A822-AC050F1D96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53" t="39261" r="76" b="33736"/>
          <a:stretch/>
        </p:blipFill>
        <p:spPr>
          <a:xfrm>
            <a:off x="5346570" y="1684207"/>
            <a:ext cx="6202238" cy="3486461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1587" y="1574054"/>
            <a:ext cx="3813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>
                <a:solidFill>
                  <a:schemeClr val="bg1"/>
                </a:solidFill>
              </a:rPr>
              <a:t>Fase 5: Taglio </a:t>
            </a:r>
          </a:p>
        </p:txBody>
      </p:sp>
    </p:spTree>
    <p:extLst>
      <p:ext uri="{BB962C8B-B14F-4D97-AF65-F5344CB8AC3E}">
        <p14:creationId xmlns:p14="http://schemas.microsoft.com/office/powerpoint/2010/main" val="2325303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9344F8-71D5-40D4-B4C7-20B459022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807B62-76AA-4BA3-A701-E54088399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7DB5C5-46D5-4E05-BE20-C7B8E9112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538B089-67A4-4EFE-9EF8-1C2BE322F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A33613-E192-4BF7-BB72-35A8A8E89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C4CB6F3-3B1D-4DA4-BC12-39CC745B6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A6F8BC1-ACA4-4544-8CEB-6F686A25B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5">
            <a:extLst>
              <a:ext uri="{FF2B5EF4-FFF2-40B4-BE49-F238E27FC236}">
                <a16:creationId xmlns:a16="http://schemas.microsoft.com/office/drawing/2014/main" id="{447ABD1A-1CCB-4893-AB60-4D3F6D3062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85" r="5" b="5"/>
          <a:stretch/>
        </p:blipFill>
        <p:spPr>
          <a:xfrm>
            <a:off x="20" y="10"/>
            <a:ext cx="2831867" cy="3428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527" y="0"/>
            <a:ext cx="6525472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84895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942300-BC1F-40D7-ABC2-47321861A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7409" y="2386396"/>
            <a:ext cx="4885431" cy="41515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700" spc="80" dirty="0"/>
              <a:t>I </a:t>
            </a:r>
            <a:r>
              <a:rPr lang="en-US" sz="3700" spc="80" dirty="0" err="1"/>
              <a:t>fogli</a:t>
            </a:r>
            <a:r>
              <a:rPr lang="en-US" sz="3700" spc="80" dirty="0"/>
              <a:t> </a:t>
            </a:r>
            <a:r>
              <a:rPr lang="en-US" sz="3700" spc="80" dirty="0" err="1"/>
              <a:t>sono</a:t>
            </a:r>
            <a:r>
              <a:rPr lang="en-US" sz="3700" spc="80" dirty="0"/>
              <a:t> </a:t>
            </a:r>
            <a:r>
              <a:rPr lang="en-US" sz="3700" spc="80" dirty="0" err="1"/>
              <a:t>stati</a:t>
            </a:r>
            <a:r>
              <a:rPr lang="en-US" sz="3700" spc="80" dirty="0"/>
              <a:t> </a:t>
            </a:r>
            <a:r>
              <a:rPr lang="en-US" sz="3700" spc="80" dirty="0" err="1"/>
              <a:t>forati</a:t>
            </a:r>
            <a:r>
              <a:rPr lang="en-US" sz="3700" spc="80" dirty="0"/>
              <a:t> e </a:t>
            </a:r>
            <a:r>
              <a:rPr lang="en-US" sz="3700" spc="80" dirty="0" err="1"/>
              <a:t>rilegati</a:t>
            </a:r>
            <a:r>
              <a:rPr lang="en-US" sz="3700" spc="80" dirty="0"/>
              <a:t> con un </a:t>
            </a:r>
            <a:r>
              <a:rPr lang="en-US" sz="3700" spc="80" dirty="0" err="1"/>
              <a:t>nastro</a:t>
            </a:r>
            <a:r>
              <a:rPr lang="en-US" sz="3700" spc="80" dirty="0"/>
              <a:t>, </a:t>
            </a:r>
            <a:r>
              <a:rPr lang="en-US" sz="3700" spc="80" dirty="0" err="1"/>
              <a:t>sulla</a:t>
            </a:r>
            <a:r>
              <a:rPr lang="en-US" sz="3700" spc="80" dirty="0"/>
              <a:t> </a:t>
            </a:r>
            <a:r>
              <a:rPr lang="en-US" sz="3700" spc="80" dirty="0" err="1"/>
              <a:t>copertina</a:t>
            </a:r>
            <a:r>
              <a:rPr lang="en-US" sz="3700" spc="80" dirty="0"/>
              <a:t> </a:t>
            </a:r>
            <a:r>
              <a:rPr lang="en-US" sz="3700" spc="80" dirty="0" err="1"/>
              <a:t>abbiamo</a:t>
            </a:r>
            <a:r>
              <a:rPr lang="en-US" sz="3700" spc="80" dirty="0"/>
              <a:t> </a:t>
            </a:r>
            <a:r>
              <a:rPr lang="en-US" sz="3700" spc="80" dirty="0" err="1"/>
              <a:t>riportato</a:t>
            </a:r>
            <a:r>
              <a:rPr lang="en-US" sz="3700" spc="80" dirty="0"/>
              <a:t> </a:t>
            </a:r>
            <a:r>
              <a:rPr lang="en-US" sz="3700" spc="80" dirty="0" err="1"/>
              <a:t>il</a:t>
            </a:r>
            <a:r>
              <a:rPr lang="en-US" sz="3700" spc="80" dirty="0"/>
              <a:t> </a:t>
            </a:r>
            <a:r>
              <a:rPr lang="en-US" sz="3700" spc="80" dirty="0" err="1"/>
              <a:t>codice</a:t>
            </a:r>
            <a:r>
              <a:rPr lang="en-US" sz="3700" spc="80" dirty="0"/>
              <a:t> </a:t>
            </a:r>
            <a:r>
              <a:rPr lang="en-US" sz="3700" spc="80" dirty="0" err="1"/>
              <a:t>della</a:t>
            </a:r>
            <a:r>
              <a:rPr lang="en-US" sz="3700" spc="80" dirty="0"/>
              <a:t> nostra </a:t>
            </a:r>
            <a:r>
              <a:rPr lang="en-US" sz="3700" spc="80" dirty="0" err="1"/>
              <a:t>classe</a:t>
            </a:r>
            <a:r>
              <a:rPr lang="en-US" sz="3700" spc="80" dirty="0"/>
              <a:t> secondo </a:t>
            </a:r>
            <a:r>
              <a:rPr lang="en-US" sz="3700" spc="80" dirty="0" err="1"/>
              <a:t>gli</a:t>
            </a:r>
            <a:r>
              <a:rPr lang="en-US" sz="3700" spc="80" dirty="0"/>
              <a:t> </a:t>
            </a:r>
            <a:r>
              <a:rPr lang="en-US" sz="3700" spc="80" dirty="0" err="1"/>
              <a:t>elementi</a:t>
            </a:r>
            <a:r>
              <a:rPr lang="en-US" sz="3700" spc="80" dirty="0"/>
              <a:t> </a:t>
            </a:r>
            <a:r>
              <a:rPr lang="en-US" sz="3700" spc="80" dirty="0" err="1"/>
              <a:t>della</a:t>
            </a:r>
            <a:r>
              <a:rPr lang="en-US" sz="3700" spc="80" dirty="0"/>
              <a:t> tavola </a:t>
            </a:r>
            <a:r>
              <a:rPr lang="en-US" sz="3700" spc="80" dirty="0" err="1"/>
              <a:t>periodica</a:t>
            </a:r>
            <a:r>
              <a:rPr lang="en-US" sz="3700" spc="80" dirty="0"/>
              <a:t>.</a:t>
            </a:r>
          </a:p>
        </p:txBody>
      </p:sp>
      <p:pic>
        <p:nvPicPr>
          <p:cNvPr id="6" name="Immagine 6">
            <a:extLst>
              <a:ext uri="{FF2B5EF4-FFF2-40B4-BE49-F238E27FC236}">
                <a16:creationId xmlns:a16="http://schemas.microsoft.com/office/drawing/2014/main" id="{078A8784-9328-492A-81B3-59B1FF3C3D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38" r="1" b="1"/>
          <a:stretch/>
        </p:blipFill>
        <p:spPr>
          <a:xfrm>
            <a:off x="2826760" y="10"/>
            <a:ext cx="2839767" cy="3428990"/>
          </a:xfrm>
          <a:prstGeom prst="rect">
            <a:avLst/>
          </a:prstGeom>
        </p:spPr>
      </p:pic>
      <p:pic>
        <p:nvPicPr>
          <p:cNvPr id="4" name="Immagine 4">
            <a:extLst>
              <a:ext uri="{FF2B5EF4-FFF2-40B4-BE49-F238E27FC236}">
                <a16:creationId xmlns:a16="http://schemas.microsoft.com/office/drawing/2014/main" id="{0109EA0E-023B-4EC3-BAD5-DF4406FCB1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273" r="3" b="3"/>
          <a:stretch/>
        </p:blipFill>
        <p:spPr>
          <a:xfrm>
            <a:off x="20" y="3429000"/>
            <a:ext cx="2834620" cy="3429000"/>
          </a:xfrm>
          <a:prstGeom prst="rect">
            <a:avLst/>
          </a:prstGeom>
        </p:spPr>
      </p:pic>
      <p:pic>
        <p:nvPicPr>
          <p:cNvPr id="7" name="Immagine 7" descr="Immagine che contiene testo, connettore&#10;&#10;Descrizione generata automaticamente">
            <a:extLst>
              <a:ext uri="{FF2B5EF4-FFF2-40B4-BE49-F238E27FC236}">
                <a16:creationId xmlns:a16="http://schemas.microsoft.com/office/drawing/2014/main" id="{3DD7FFF0-29EB-471B-90F6-BF1E069573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" b="9276"/>
          <a:stretch/>
        </p:blipFill>
        <p:spPr>
          <a:xfrm>
            <a:off x="2831887" y="3429000"/>
            <a:ext cx="2834640" cy="3429000"/>
          </a:xfrm>
          <a:prstGeom prst="rect">
            <a:avLst/>
          </a:prstGeom>
        </p:spPr>
      </p:pic>
      <p:sp>
        <p:nvSpPr>
          <p:cNvPr id="9" name="CasellaDiTesto 8"/>
          <p:cNvSpPr txBox="1"/>
          <p:nvPr/>
        </p:nvSpPr>
        <p:spPr>
          <a:xfrm>
            <a:off x="6294120" y="914400"/>
            <a:ext cx="5227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800" dirty="0"/>
              <a:t>Fase 6: Realizzazione dell’agenda</a:t>
            </a:r>
          </a:p>
        </p:txBody>
      </p:sp>
    </p:spTree>
    <p:extLst>
      <p:ext uri="{BB962C8B-B14F-4D97-AF65-F5344CB8AC3E}">
        <p14:creationId xmlns:p14="http://schemas.microsoft.com/office/powerpoint/2010/main" val="2914124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196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Garamond</vt:lpstr>
      <vt:lpstr>SavonVTI</vt:lpstr>
      <vt:lpstr>Presentazione standard di PowerPoint</vt:lpstr>
      <vt:lpstr>Presentazione standard di PowerPoint</vt:lpstr>
      <vt:lpstr>Il RICICLO della Carta:  </vt:lpstr>
      <vt:lpstr>Fase 1: Taglio e macerazione in acqua</vt:lpstr>
      <vt:lpstr>Presentazione standard di PowerPoint</vt:lpstr>
      <vt:lpstr>Fase 3: Pressatura del foglio 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vincenzo</dc:creator>
  <cp:lastModifiedBy>Francesco Zeno</cp:lastModifiedBy>
  <cp:revision>241</cp:revision>
  <dcterms:created xsi:type="dcterms:W3CDTF">2022-03-04T15:11:32Z</dcterms:created>
  <dcterms:modified xsi:type="dcterms:W3CDTF">2022-05-25T17:19:37Z</dcterms:modified>
</cp:coreProperties>
</file>